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Subcategorías</c:v>
                </c:pt>
              </c:strCache>
            </c:strRef>
          </c:tx>
          <c:spPr>
            <a:solidFill>
              <a:srgbClr val="D62B1F"/>
            </a:solidFill>
          </c:spPr>
          <c:cat>
            <c:strRef>
              <c:f>Sheet1!$A$2:$A$7</c:f>
              <c:strCache>
                <c:ptCount val="6"/>
                <c:pt idx="0">
                  <c:v>SIESA ERP</c:v>
                </c:pt>
                <c:pt idx="1">
                  <c:v>POS</c:v>
                </c:pt>
                <c:pt idx="2">
                  <c:v>Infraestructura</c:v>
                </c:pt>
                <c:pt idx="3">
                  <c:v>Integraciones</c:v>
                </c:pt>
                <c:pt idx="4">
                  <c:v>Soporte TI</c:v>
                </c:pt>
                <c:pt idx="5">
                  <c:v>Admin TI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4</c:v>
                </c:pt>
                <c:pt idx="2">
                  <c:v>8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dPt>
            <c:idx val="0"/>
            <c:spPr>
              <a:solidFill>
                <a:srgbClr val="D62B1F"/>
              </a:solidFill>
            </c:spPr>
          </c:dPt>
          <c:dPt>
            <c:idx val="1"/>
            <c:spPr>
              <a:solidFill>
                <a:srgbClr val="F26522"/>
              </a:solidFill>
            </c:spPr>
          </c:dPt>
          <c:dPt>
            <c:idx val="2"/>
            <c:spPr>
              <a:solidFill>
                <a:srgbClr val="FFC72C"/>
              </a:solidFill>
            </c:spPr>
          </c:dPt>
          <c:dPt>
            <c:idx val="3"/>
            <c:spPr>
              <a:solidFill>
                <a:srgbClr val="2F7D4F"/>
              </a:solidFill>
            </c:spPr>
          </c:dPt>
          <c:cat>
            <c:strRef>
              <c:f>Sheet1!$A$2:$A$5</c:f>
              <c:strCache>
                <c:ptCount val="4"/>
                <c:pt idx="0">
                  <c:v>Urgente</c:v>
                </c:pt>
                <c:pt idx="1">
                  <c:v>Alta</c:v>
                </c:pt>
                <c:pt idx="2">
                  <c:v>Media</c:v>
                </c:pt>
                <c:pt idx="3">
                  <c:v>Baja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15</c:v>
                </c:pt>
                <c:pt idx="2">
                  <c:v>50</c:v>
                </c:pt>
                <c:pt idx="3">
                  <c:v>30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dPt>
            <c:idx val="0"/>
            <c:spPr>
              <a:solidFill>
                <a:srgbClr val="D62B1F"/>
              </a:solidFill>
            </c:spPr>
          </c:dPt>
          <c:dPt>
            <c:idx val="1"/>
            <c:spPr>
              <a:solidFill>
                <a:srgbClr val="FFC72C"/>
              </a:solidFill>
            </c:spPr>
          </c:dPt>
          <c:dPt>
            <c:idx val="2"/>
            <c:spPr>
              <a:solidFill>
                <a:srgbClr val="2F7D4F"/>
              </a:solidFill>
            </c:spPr>
          </c:dPt>
          <c:dPt>
            <c:idx val="3"/>
            <c:spPr>
              <a:solidFill>
                <a:srgbClr val="6B6259"/>
              </a:solidFill>
            </c:spPr>
          </c:dPt>
          <c:cat>
            <c:strRef>
              <c:f>Sheet1!$A$2:$A$5</c:f>
              <c:strCache>
                <c:ptCount val="4"/>
                <c:pt idx="0">
                  <c:v>Abierto</c:v>
                </c:pt>
                <c:pt idx="1">
                  <c:v>En Progreso</c:v>
                </c:pt>
                <c:pt idx="2">
                  <c:v>Resuelto</c:v>
                </c:pt>
                <c:pt idx="3">
                  <c:v>Cerrado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35</c:v>
                </c:pt>
                <c:pt idx="2">
                  <c:v>30</c:v>
                </c:pt>
                <c:pt idx="3">
                  <c:v>10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D6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37760" y="1097280"/>
            <a:ext cx="2286000" cy="2286000"/>
          </a:xfrm>
          <a:prstGeom prst="ellipse">
            <a:avLst/>
          </a:prstGeom>
          <a:solidFill>
            <a:srgbClr val="D6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554480"/>
            <a:ext cx="21031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4688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C72C"/>
                </a:solidFill>
                <a:latin typeface="Calibri"/>
              </a:defRPr>
            </a:pPr>
            <a:r>
              <a:t>PREMIUM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INFORME DE AVANCE — MESA DE AYUDA 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C72C"/>
                </a:solidFill>
                <a:latin typeface="Calibri"/>
              </a:defRPr>
            </a:pPr>
            <a:r>
              <a:t>Dogger HelpDesk + GLPI  |  Django 5 + SQL Server 2022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5303520"/>
            <a:ext cx="5760720" cy="1097280"/>
          </a:xfrm>
          <a:prstGeom prst="roundRect">
            <a:avLst/>
          </a:prstGeom>
          <a:solidFill>
            <a:srgbClr val="2A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5440680"/>
            <a:ext cx="5212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b="0" sz="1300">
                <a:solidFill>
                  <a:srgbClr val="FFF7EA"/>
                </a:solidFill>
                <a:latin typeface="Calibri"/>
              </a:defRPr>
            </a:pPr>
            <a:r>
              <a:t>Empresa: Productos Alimenticios Dogger S.A.S.</a:t>
            </a:r>
          </a:p>
          <a:p>
            <a:pPr algn="ctr">
              <a:spcAft>
                <a:spcPts val="400"/>
              </a:spcAft>
              <a:defRPr b="0" sz="1100">
                <a:solidFill>
                  <a:srgbClr val="6B6259"/>
                </a:solidFill>
                <a:latin typeface="Calibri"/>
              </a:defRPr>
            </a:pPr>
            <a:r>
              <a:t>Sede: Calle 39 Sur 26-09, Envigado, Antioquia</a:t>
            </a:r>
          </a:p>
          <a:p>
            <a:pPr algn="ctr">
              <a:spcAft>
                <a:spcPts val="400"/>
              </a:spcAft>
              <a:defRPr b="0" sz="1100">
                <a:solidFill>
                  <a:srgbClr val="6B6259"/>
                </a:solidFill>
                <a:latin typeface="Calibri"/>
              </a:defRPr>
            </a:pPr>
            <a:r>
              <a:t>Fecha: Agosto 2026  |  Versión del sistema: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6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DOGGER HELPDESK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CCCC"/>
                </a:solidFill>
                <a:latin typeface="Calibri"/>
              </a:defRPr>
            </a:pPr>
            <a:r>
              <a:t>Productos Alimenticios Dogger S.A.S.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1412"/>
                </a:solidFill>
                <a:latin typeface="Calibri"/>
              </a:defRPr>
            </a:pPr>
            <a:r>
              <a:t>Resumen Ejecutivo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259"/>
                </a:solidFill>
                <a:latin typeface="Calibri"/>
              </a:defRPr>
            </a:pPr>
            <a:r>
              <a:t>Visión general del proyecto Dogger HelpDesk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6259"/>
                </a:solidFill>
                <a:latin typeface="Calibri"/>
              </a:defRPr>
            </a:pPr>
            <a:r>
              <a:t>Dogger HelpDesk — Informe de Avance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6259"/>
                </a:solidFill>
                <a:latin typeface="Calibri"/>
              </a:defRPr>
            </a:pPr>
            <a:r>
              <a:t>2 /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031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148840"/>
            <a:ext cx="2468880" cy="5486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F7D4F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259"/>
                </a:solidFill>
                <a:latin typeface="Calibri"/>
              </a:defRPr>
            </a:pPr>
            <a:r>
              <a:t>Categorías</a:t>
            </a:r>
            <a:br/>
            <a:r>
              <a:t>activas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1031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40" y="2148840"/>
            <a:ext cx="2468880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233172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26522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8803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259"/>
                </a:solidFill>
                <a:latin typeface="Calibri"/>
              </a:defRPr>
            </a:pPr>
            <a:r>
              <a:t>Sedes</a:t>
            </a:r>
            <a:br/>
            <a:r>
              <a:t>Dogger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1031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148840"/>
            <a:ext cx="2468880" cy="54864"/>
          </a:xfrm>
          <a:prstGeom prst="rect">
            <a:avLst/>
          </a:prstGeom>
          <a:solidFill>
            <a:srgbClr val="2D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3172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D6BA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803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259"/>
                </a:solidFill>
                <a:latin typeface="Calibri"/>
              </a:defRPr>
            </a:pPr>
            <a:r>
              <a:t>Modelos</a:t>
            </a:r>
            <a:br/>
            <a:r>
              <a:t>de datos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21031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2148840"/>
            <a:ext cx="2468880" cy="54864"/>
          </a:xfrm>
          <a:prstGeom prst="rect">
            <a:avLst/>
          </a:prstGeom>
          <a:solidFill>
            <a:srgbClr val="D6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233172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62B1F"/>
                </a:solidFill>
                <a:latin typeface="Calibri"/>
              </a:defRPr>
            </a:pPr>
            <a:r>
              <a:t>40+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8803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259"/>
                </a:solidFill>
                <a:latin typeface="Calibri"/>
              </a:defRPr>
            </a:pPr>
            <a:r>
              <a:t>Rutas</a:t>
            </a:r>
            <a:br/>
            <a:r>
              <a:t>URL activas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566160"/>
            <a:ext cx="1097280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b="1" sz="1400">
                <a:solidFill>
                  <a:srgbClr val="171412"/>
                </a:solidFill>
                <a:latin typeface="Calibri"/>
              </a:defRPr>
            </a:pPr>
            <a:r>
              <a:t>Qué es:</a:t>
            </a:r>
          </a:p>
          <a:p>
            <a:pPr algn="l">
              <a:spcAft>
                <a:spcPts val="400"/>
              </a:spcAft>
              <a:defRPr b="0" sz="1200">
                <a:solidFill>
                  <a:srgbClr val="241F1C"/>
                </a:solidFill>
                <a:latin typeface="Calibri"/>
              </a:defRPr>
            </a:pPr>
            <a:r>
              <a:t>Sistema de mesa de ayuda web para gestión de tickets de soporte TI, diseñado para Productos</a:t>
            </a:r>
          </a:p>
          <a:p>
            <a:pPr algn="l">
              <a:spcAft>
                <a:spcPts val="400"/>
              </a:spcAft>
              <a:defRPr b="0" sz="1200">
                <a:solidFill>
                  <a:srgbClr val="241F1C"/>
                </a:solidFill>
                <a:latin typeface="Calibri"/>
              </a:defRPr>
            </a:pPr>
            <a:r>
              <a:t>Alimenticios Dogger S.A.S. Integra un portal público de reporte, panel de administración</a:t>
            </a:r>
          </a:p>
          <a:p>
            <a:pPr algn="l">
              <a:spcAft>
                <a:spcPts val="400"/>
              </a:spcAft>
              <a:defRPr b="0" sz="1200">
                <a:solidFill>
                  <a:srgbClr val="241F1C"/>
                </a:solidFill>
                <a:latin typeface="Calibri"/>
              </a:defRPr>
            </a:pPr>
            <a:r>
              <a:t>para técnicos y sincronización opcional con GLPI (ITSM).</a:t>
            </a:r>
          </a:p>
          <a:p>
            <a:pPr algn="l">
              <a:spcAft>
                <a:spcPts val="400"/>
              </a:spcAft>
              <a:defRPr b="0" sz="600">
                <a:solidFill>
                  <a:srgbClr val="171412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b="1" sz="1400">
                <a:solidFill>
                  <a:srgbClr val="171412"/>
                </a:solidFill>
                <a:latin typeface="Calibri"/>
              </a:defRPr>
            </a:pPr>
            <a:r>
              <a:t>Estado actual:</a:t>
            </a:r>
          </a:p>
          <a:p>
            <a:pPr algn="l">
              <a:spcAft>
                <a:spcPts val="400"/>
              </a:spcAft>
              <a:defRPr b="0" sz="1200">
                <a:solidFill>
                  <a:srgbClr val="2F7D4F"/>
                </a:solidFill>
                <a:latin typeface="Calibri"/>
              </a:defRPr>
            </a:pPr>
            <a:r>
              <a:t>✓ Fase Normal (v1.0) — Completada: Portal + Panel + BD SQL Server + GLPI desactivado</a:t>
            </a:r>
          </a:p>
          <a:p>
            <a:pPr algn="l">
              <a:spcAft>
                <a:spcPts val="400"/>
              </a:spcAft>
              <a:defRPr b="0" sz="1200">
                <a:solidFill>
                  <a:srgbClr val="F26522"/>
                </a:solidFill>
                <a:latin typeface="Calibri"/>
              </a:defRPr>
            </a:pPr>
            <a:r>
              <a:t>✓ Fase Intermedia (v1.5) — En progreso: Webhook GLPI + Asignación automática + Reportes</a:t>
            </a:r>
          </a:p>
          <a:p>
            <a:pPr algn="l">
              <a:spcAft>
                <a:spcPts val="400"/>
              </a:spcAft>
              <a:defRPr b="0" sz="1200">
                <a:solidFill>
                  <a:srgbClr val="6B6259"/>
                </a:solidFill>
                <a:latin typeface="Calibri"/>
              </a:defRPr>
            </a:pPr>
            <a:r>
              <a:t>○ Fase Avanzada (v2.0) — Pendiente: Notificaciones + SLA avanzado + Inventario GLPI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6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DOGGER HELPDESK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CCCC"/>
                </a:solidFill>
                <a:latin typeface="Calibri"/>
              </a:defRPr>
            </a:pPr>
            <a:r>
              <a:t>Productos Alimenticios Dogger S.A.S.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1412"/>
                </a:solidFill>
                <a:latin typeface="Calibri"/>
              </a:defRPr>
            </a:pPr>
            <a:r>
              <a:t>Arquitectura del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259"/>
                </a:solidFill>
                <a:latin typeface="Calibri"/>
              </a:defRPr>
            </a:pPr>
            <a:r>
              <a:t>Infraestructura tecnológica Dogger HelpDesk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6259"/>
                </a:solidFill>
                <a:latin typeface="Calibri"/>
              </a:defRPr>
            </a:pPr>
            <a:r>
              <a:t>Dogger HelpDesk — Informe de Avance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6259"/>
                </a:solidFill>
                <a:latin typeface="Calibri"/>
              </a:defRPr>
            </a:pPr>
            <a:r>
              <a:t>3 /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03120"/>
            <a:ext cx="3200400" cy="4114800"/>
          </a:xfrm>
          <a:prstGeom prst="roundRect">
            <a:avLst/>
          </a:prstGeom>
          <a:solidFill>
            <a:srgbClr val="FFF7EA"/>
          </a:solidFill>
          <a:ln w="1270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9456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62B1F"/>
                </a:solidFill>
                <a:latin typeface="Calibri"/>
              </a:defRPr>
            </a:pPr>
            <a:r>
              <a:t>PORTAL DOGGER (Frontend)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2834640" cy="3474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Portal público (sin login)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Crear ticket + adjuntos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Consultar por código HD-XXXX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Panel staff (dashboard)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Gestión de tickets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Categorías + Usuarios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Reportes + Export Excel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Interfaz responsiva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103120"/>
            <a:ext cx="3474720" cy="4114800"/>
          </a:xfrm>
          <a:prstGeom prst="roundRect">
            <a:avLst/>
          </a:prstGeom>
          <a:solidFill>
            <a:srgbClr val="F0F5FF"/>
          </a:solidFill>
          <a:ln w="12700">
            <a:solidFill>
              <a:srgbClr val="2D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1945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D6BA8"/>
                </a:solidFill>
                <a:latin typeface="Calibri"/>
              </a:defRPr>
            </a:pPr>
            <a:r>
              <a:t>DJANGO 5.2 (Backend)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51760"/>
            <a:ext cx="3108960" cy="3474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Python 3.12 / Django 5.2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SQL Server 2022 (mssql)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Modelo: 5 tablas + 3 aux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Roles: Admin / Técnico / User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SLA/ANS por prioridad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Sugerencia automática cat.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Webhook receptor GLPI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gunicorn (producción)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103120"/>
            <a:ext cx="3474720" cy="4114800"/>
          </a:xfrm>
          <a:prstGeom prst="roundRect">
            <a:avLst/>
          </a:prstGeom>
          <a:solidFill>
            <a:srgbClr val="FFF5E6"/>
          </a:solidFill>
          <a:ln w="127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1945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26522"/>
                </a:solidFill>
                <a:latin typeface="Calibri"/>
              </a:defRPr>
            </a:pPr>
            <a:r>
              <a:t>GLPI (ITSM — Opcional)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651760"/>
            <a:ext cx="3108960" cy="3474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API REST (/apirest.php)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Sync tickets → GLPI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Sync adjuntos/documentos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Webhook → Dogger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Asignación de técnicos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Sync perfiles/avatars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• Estado: Desactivado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  (GLPI_ENABLED=False)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6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DOGGER HELPDESK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CCCC"/>
                </a:solidFill>
                <a:latin typeface="Calibri"/>
              </a:defRPr>
            </a:pPr>
            <a:r>
              <a:t>Productos Alimenticios Dogger S.A.S.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1412"/>
                </a:solidFill>
                <a:latin typeface="Calibri"/>
              </a:defRPr>
            </a:pPr>
            <a:r>
              <a:t>Fases del Proyecto y Versiones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259"/>
                </a:solidFill>
                <a:latin typeface="Calibri"/>
              </a:defRPr>
            </a:pPr>
            <a:r>
              <a:t>Evolución del sistema desde la normal hasta la avanzada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6259"/>
                </a:solidFill>
                <a:latin typeface="Calibri"/>
              </a:defRPr>
            </a:pPr>
            <a:r>
              <a:t>Dogger HelpDesk — Informe de Avance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6259"/>
                </a:solidFill>
                <a:latin typeface="Calibri"/>
              </a:defRPr>
            </a:pPr>
            <a:r>
              <a:t>4 /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03120"/>
            <a:ext cx="34747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148840"/>
            <a:ext cx="3383280" cy="502920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76272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FASE NORMAL — v1.0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2697480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2706624"/>
            <a:ext cx="146304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7D4F"/>
                </a:solidFill>
                <a:latin typeface="Calibri"/>
              </a:defRPr>
            </a:pPr>
            <a:r>
              <a:t>COMPLETADA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3108960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✓ Portal público de reporte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✓ Panel staff (dashboard + filtros)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✓ BD SQL Server 2022 (5 tablas)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✓ 36 categorías alineadas Dogger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✓ Roles: Admin / Técnico / Usuario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✓ Consulta pública por código HD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✓ Login staff / registro usuarios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✓ CSS corporativo Dogger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2103120"/>
            <a:ext cx="34747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26280" y="2148840"/>
            <a:ext cx="3383280" cy="50292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2176272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FASE INTERMEDIA — v1.5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2697480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2706624"/>
            <a:ext cx="146304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26522"/>
                </a:solidFill>
                <a:latin typeface="Calibri"/>
              </a:defRPr>
            </a:pPr>
            <a:r>
              <a:t>EN PROGRESO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154680"/>
            <a:ext cx="3108960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✓ Webhook receptor GLPI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✓ Reenvío de tickets a GLPI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✓ Asignación automática por cat.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✓ Reportes + gráficas CSS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✓ Exportación Excel (.xlsx)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○ Sugerencia de categoría (IA)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○ Importar usuarios desde GLPI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○ Comentarios internos/externos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2103120"/>
            <a:ext cx="34747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66760" y="2148840"/>
            <a:ext cx="3383280" cy="502920"/>
          </a:xfrm>
          <a:prstGeom prst="rect">
            <a:avLst/>
          </a:prstGeom>
          <a:solidFill>
            <a:srgbClr val="6B6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2176272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FASE AVANZADA — v2.0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2697480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706624"/>
            <a:ext cx="146304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B6259"/>
                </a:solidFill>
                <a:latin typeface="Calibri"/>
              </a:defRPr>
            </a:pPr>
            <a:r>
              <a:t>PENDIENTE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154680"/>
            <a:ext cx="3108960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○ Notificaciones por correo (SMTP)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○ SLA avanzado con alertas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○ Inventario de PCs en GLPI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○ Consulta por correo electrónico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○ Plugin Formcreator en GLPI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○ Dashboard con métricas live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○ App móvil (PWA)</a:t>
            </a:r>
          </a:p>
          <a:p>
            <a:pPr algn="l">
              <a:spcAft>
                <a:spcPts val="400"/>
              </a:spcAft>
              <a:defRPr sz="1100">
                <a:solidFill>
                  <a:srgbClr val="241F1C"/>
                </a:solidFill>
                <a:latin typeface="Calibri"/>
              </a:defRPr>
            </a:pPr>
            <a:r>
              <a:t>○ Auditoría y logs avanzados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6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DOGGER HELPDESK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CCCC"/>
                </a:solidFill>
                <a:latin typeface="Calibri"/>
              </a:defRPr>
            </a:pPr>
            <a:r>
              <a:t>Productos Alimenticios Dogger S.A.S.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1412"/>
                </a:solidFill>
                <a:latin typeface="Calibri"/>
              </a:defRPr>
            </a:pPr>
            <a:r>
              <a:t>Avances y Resultados Alcanzados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259"/>
                </a:solidFill>
                <a:latin typeface="Calibri"/>
              </a:defRPr>
            </a:pPr>
            <a:r>
              <a:t>Funcionalidades implementadas y operativas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6259"/>
                </a:solidFill>
                <a:latin typeface="Calibri"/>
              </a:defRPr>
            </a:pPr>
            <a:r>
              <a:t>Dogger HelpDesk — Informe de Avance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6259"/>
                </a:solidFill>
                <a:latin typeface="Calibri"/>
              </a:defRPr>
            </a:pPr>
            <a:r>
              <a:t>5 /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03120"/>
            <a:ext cx="26517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148840"/>
            <a:ext cx="2560320" cy="54864"/>
          </a:xfrm>
          <a:prstGeom prst="rect">
            <a:avLst/>
          </a:prstGeom>
          <a:solidFill>
            <a:srgbClr val="D6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62B1F"/>
                </a:solidFill>
                <a:latin typeface="Calibri"/>
              </a:defRPr>
            </a:pPr>
            <a:r>
              <a:t>Portal Público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23774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1F1C"/>
                </a:solidFill>
                <a:latin typeface="Calibri"/>
              </a:defRPr>
            </a:pPr>
            <a:r>
              <a:t>Reporte de incidencias</a:t>
            </a:r>
            <a:br/>
            <a:r>
              <a:t>sin login. Código HD</a:t>
            </a:r>
            <a:br/>
            <a:r>
              <a:t>automático.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39" y="2103120"/>
            <a:ext cx="26517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59" y="2148840"/>
            <a:ext cx="2560320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599" y="228600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26522"/>
                </a:solidFill>
                <a:latin typeface="Calibri"/>
              </a:defRPr>
            </a:pPr>
            <a:r>
              <a:t>Panel Staff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599" y="2651760"/>
            <a:ext cx="23774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1F1C"/>
                </a:solidFill>
                <a:latin typeface="Calibri"/>
              </a:defRPr>
            </a:pPr>
            <a:r>
              <a:t>Dashboard con contadores,</a:t>
            </a:r>
            <a:br/>
            <a:r>
              <a:t>filtros, paginación y</a:t>
            </a:r>
            <a:br/>
            <a:r>
              <a:t>exportación Excel.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103120"/>
            <a:ext cx="26517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2148840"/>
            <a:ext cx="2560320" cy="54864"/>
          </a:xfrm>
          <a:prstGeom prst="rect">
            <a:avLst/>
          </a:prstGeom>
          <a:solidFill>
            <a:srgbClr val="2D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28600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D6BA8"/>
                </a:solidFill>
                <a:latin typeface="Calibri"/>
              </a:defRPr>
            </a:pPr>
            <a:r>
              <a:t>GLPI 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651760"/>
            <a:ext cx="23774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1F1C"/>
                </a:solidFill>
                <a:latin typeface="Calibri"/>
              </a:defRPr>
            </a:pPr>
            <a:r>
              <a:t>Creación, actualización</a:t>
            </a:r>
            <a:br/>
            <a:r>
              <a:t>y reenvío de tickets</a:t>
            </a:r>
            <a:br/>
            <a:r>
              <a:t>vía API REST.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59" y="2103120"/>
            <a:ext cx="26517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79" y="2148840"/>
            <a:ext cx="2560320" cy="5486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28600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F7D4F"/>
                </a:solidFill>
                <a:latin typeface="Calibri"/>
              </a:defRPr>
            </a:pPr>
            <a:r>
              <a:t>36 Categorías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2651760"/>
            <a:ext cx="23774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1F1C"/>
                </a:solidFill>
                <a:latin typeface="Calibri"/>
              </a:defRPr>
            </a:pPr>
            <a:r>
              <a:t>Alineadas a infraestructura</a:t>
            </a:r>
            <a:br/>
            <a:r>
              <a:t>Dogger: SIESA, POS,</a:t>
            </a:r>
            <a:br/>
            <a:r>
              <a:t>Red, Servidores.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297679"/>
            <a:ext cx="26517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343399"/>
            <a:ext cx="2560320" cy="54864"/>
          </a:xfrm>
          <a:prstGeom prst="rect">
            <a:avLst/>
          </a:prstGeom>
          <a:solidFill>
            <a:srgbClr val="A11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480559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A11B12"/>
                </a:solidFill>
                <a:latin typeface="Calibri"/>
              </a:defRPr>
            </a:pPr>
            <a:r>
              <a:t>Asignación Auto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46319"/>
            <a:ext cx="23774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1F1C"/>
                </a:solidFill>
                <a:latin typeface="Calibri"/>
              </a:defRPr>
            </a:pPr>
            <a:r>
              <a:t>Técnico por defecto</a:t>
            </a:r>
            <a:br/>
            <a:r>
              <a:t>por categoría con</a:t>
            </a:r>
            <a:br/>
            <a:r>
              <a:t>reasignación manual.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20439" y="4297679"/>
            <a:ext cx="26517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66159" y="4343399"/>
            <a:ext cx="2560320" cy="54864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599" y="4480559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C72C"/>
                </a:solidFill>
                <a:latin typeface="Calibri"/>
              </a:defRPr>
            </a:pPr>
            <a:r>
              <a:t>ANS / SLA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599" y="4846319"/>
            <a:ext cx="23774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1F1C"/>
                </a:solidFill>
                <a:latin typeface="Calibri"/>
              </a:defRPr>
            </a:pPr>
            <a:r>
              <a:t>Tiempos objetivo por</a:t>
            </a:r>
            <a:br/>
            <a:r>
              <a:t>prioridad: 4h-48h.</a:t>
            </a:r>
            <a:br/>
            <a:r>
              <a:t>Semáforo visual.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297679"/>
            <a:ext cx="26517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46520" y="4343399"/>
            <a:ext cx="2560320" cy="54864"/>
          </a:xfrm>
          <a:prstGeom prst="rect">
            <a:avLst/>
          </a:prstGeom>
          <a:solidFill>
            <a:srgbClr val="24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4480559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41F1C"/>
                </a:solidFill>
                <a:latin typeface="Calibri"/>
              </a:defRPr>
            </a:pPr>
            <a:r>
              <a:t>Webhooks GLPI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846319"/>
            <a:ext cx="23774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1F1C"/>
                </a:solidFill>
                <a:latin typeface="Calibri"/>
              </a:defRPr>
            </a:pPr>
            <a:r>
              <a:t>Receptor de eventos</a:t>
            </a:r>
            <a:br/>
            <a:r>
              <a:t>con validación</a:t>
            </a:r>
            <a:br/>
            <a:r>
              <a:t>X-Dogger-Secret.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81159" y="4297679"/>
            <a:ext cx="26517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26879" y="4343399"/>
            <a:ext cx="2560320" cy="54864"/>
          </a:xfrm>
          <a:prstGeom prst="rect">
            <a:avLst/>
          </a:prstGeom>
          <a:solidFill>
            <a:srgbClr val="6B6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19" y="4480559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6259"/>
                </a:solidFill>
                <a:latin typeface="Calibri"/>
              </a:defRPr>
            </a:pPr>
            <a:r>
              <a:t>Reportes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19" y="4846319"/>
            <a:ext cx="237744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41F1C"/>
                </a:solidFill>
                <a:latin typeface="Calibri"/>
              </a:defRPr>
            </a:pPr>
            <a:r>
              <a:t>Gráficas CSS puras.</a:t>
            </a:r>
            <a:br/>
            <a:r>
              <a:t>Tarjetas por estado.</a:t>
            </a:r>
            <a:br/>
            <a:r>
              <a:t>Modal detallado.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6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DOGGER HELPDESK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CCCC"/>
                </a:solidFill>
                <a:latin typeface="Calibri"/>
              </a:defRPr>
            </a:pPr>
            <a:r>
              <a:t>Productos Alimenticios Dogger S.A.S.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1412"/>
                </a:solidFill>
                <a:latin typeface="Calibri"/>
              </a:defRPr>
            </a:pPr>
            <a:r>
              <a:t>Modelo de Datos y Categorías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259"/>
                </a:solidFill>
                <a:latin typeface="Calibri"/>
              </a:defRPr>
            </a:pPr>
            <a:r>
              <a:t>Estructura de la base de datos y catálogo de incidencias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6259"/>
                </a:solidFill>
                <a:latin typeface="Calibri"/>
              </a:defRPr>
            </a:pPr>
            <a:r>
              <a:t>Dogger HelpDesk — Informe de Avance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6259"/>
                </a:solidFill>
                <a:latin typeface="Calibri"/>
              </a:defRPr>
            </a:pPr>
            <a:r>
              <a:t>6 /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03120"/>
            <a:ext cx="3566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48840"/>
            <a:ext cx="3474720" cy="365760"/>
          </a:xfrm>
          <a:prstGeom prst="rect">
            <a:avLst/>
          </a:prstGeom>
          <a:solidFill>
            <a:srgbClr val="D6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167128"/>
            <a:ext cx="32918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📋 Usuarios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06040"/>
            <a:ext cx="32918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>
                <a:solidFill>
                  <a:srgbClr val="241F1C"/>
                </a:solidFill>
                <a:latin typeface="Calibri"/>
              </a:defRPr>
            </a:pPr>
            <a:r>
              <a:t>  •  id  •  nombre  •  email  •  rol</a:t>
            </a:r>
          </a:p>
          <a:p>
            <a:pPr algn="l">
              <a:spcAft>
                <a:spcPts val="400"/>
              </a:spcAft>
              <a:defRPr sz="900">
                <a:solidFill>
                  <a:srgbClr val="241F1C"/>
                </a:solidFill>
                <a:latin typeface="Calibri"/>
              </a:defRPr>
            </a:pPr>
            <a:r>
              <a:t>  •  avatar  •  glpi_user_id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103120"/>
            <a:ext cx="3566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148840"/>
            <a:ext cx="3474720" cy="36576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167128"/>
            <a:ext cx="32918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📋 Tickets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606040"/>
            <a:ext cx="32918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>
                <a:solidFill>
                  <a:srgbClr val="241F1C"/>
                </a:solidFill>
                <a:latin typeface="Calibri"/>
              </a:defRPr>
            </a:pPr>
            <a:r>
              <a:t>  •  id  •  codigo HD-XXXX  •  titulo</a:t>
            </a:r>
          </a:p>
          <a:p>
            <a:pPr algn="l">
              <a:spcAft>
                <a:spcPts val="400"/>
              </a:spcAft>
              <a:defRPr sz="900">
                <a:solidFill>
                  <a:srgbClr val="241F1C"/>
                </a:solidFill>
                <a:latin typeface="Calibri"/>
              </a:defRPr>
            </a:pPr>
            <a:r>
              <a:t>  •  prioridad  •  estado  •  solicitante</a:t>
            </a:r>
          </a:p>
          <a:p>
            <a:pPr algn="l">
              <a:spcAft>
                <a:spcPts val="400"/>
              </a:spcAft>
              <a:defRPr sz="900">
                <a:solidFill>
                  <a:srgbClr val="241F1C"/>
                </a:solidFill>
                <a:latin typeface="Calibri"/>
              </a:defRPr>
            </a:pPr>
            <a:r>
              <a:t>  •  tecnico  •  glpi_id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103120"/>
            <a:ext cx="3566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2148840"/>
            <a:ext cx="3474720" cy="365760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167128"/>
            <a:ext cx="32918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📋 Categorias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606040"/>
            <a:ext cx="32918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>
                <a:solidFill>
                  <a:srgbClr val="241F1C"/>
                </a:solidFill>
                <a:latin typeface="Calibri"/>
              </a:defRPr>
            </a:pPr>
            <a:r>
              <a:t>  •  id  •  grupo  •  nombre</a:t>
            </a:r>
          </a:p>
          <a:p>
            <a:pPr algn="l">
              <a:spcAft>
                <a:spcPts val="400"/>
              </a:spcAft>
              <a:defRPr sz="900">
                <a:solidFill>
                  <a:srgbClr val="241F1C"/>
                </a:solidFill>
                <a:latin typeface="Calibri"/>
              </a:defRPr>
            </a:pPr>
            <a:r>
              <a:t>  •  prioridad_default  •  ans_horas</a:t>
            </a:r>
          </a:p>
          <a:p>
            <a:pPr algn="l">
              <a:spcAft>
                <a:spcPts val="400"/>
              </a:spcAft>
              <a:defRPr sz="900">
                <a:solidFill>
                  <a:srgbClr val="241F1C"/>
                </a:solidFill>
                <a:latin typeface="Calibri"/>
              </a:defRPr>
            </a:pPr>
            <a:r>
              <a:t>  •  glpi_category_id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89120"/>
            <a:ext cx="3566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434840"/>
            <a:ext cx="3474720" cy="365760"/>
          </a:xfrm>
          <a:prstGeom prst="rect">
            <a:avLst/>
          </a:prstGeom>
          <a:solidFill>
            <a:srgbClr val="2D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453128"/>
            <a:ext cx="32918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📋 Adjuntos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892040"/>
            <a:ext cx="32918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>
                <a:solidFill>
                  <a:srgbClr val="241F1C"/>
                </a:solidFill>
                <a:latin typeface="Calibri"/>
              </a:defRPr>
            </a:pPr>
            <a:r>
              <a:t>  •  id  •  ticket_id  •  nombre_original</a:t>
            </a:r>
          </a:p>
          <a:p>
            <a:pPr algn="l">
              <a:spcAft>
                <a:spcPts val="400"/>
              </a:spcAft>
              <a:defRPr sz="900">
                <a:solidFill>
                  <a:srgbClr val="241F1C"/>
                </a:solidFill>
                <a:latin typeface="Calibri"/>
              </a:defRPr>
            </a:pPr>
            <a:r>
              <a:t>  •  archivo  •  sincronizado_glpi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389120"/>
            <a:ext cx="3566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1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434840"/>
            <a:ext cx="3474720" cy="365760"/>
          </a:xfrm>
          <a:prstGeom prst="rect">
            <a:avLst/>
          </a:prstGeom>
          <a:solidFill>
            <a:srgbClr val="24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453128"/>
            <a:ext cx="32918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📋 Comentarios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892040"/>
            <a:ext cx="32918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>
                <a:solidFill>
                  <a:srgbClr val="241F1C"/>
                </a:solidFill>
                <a:latin typeface="Calibri"/>
              </a:defRPr>
            </a:pPr>
            <a:r>
              <a:t>  •  id  •  ticket_id  •  usuario_id</a:t>
            </a:r>
          </a:p>
          <a:p>
            <a:pPr algn="l">
              <a:spcAft>
                <a:spcPts val="400"/>
              </a:spcAft>
              <a:defRPr sz="900">
                <a:solidFill>
                  <a:srgbClr val="241F1C"/>
                </a:solidFill>
                <a:latin typeface="Calibri"/>
              </a:defRPr>
            </a:pPr>
            <a:r>
              <a:t>  •  comentario  •  es_interno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389120"/>
            <a:ext cx="3566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80" y="4434840"/>
            <a:ext cx="3474720" cy="365760"/>
          </a:xfrm>
          <a:prstGeom prst="rect">
            <a:avLst/>
          </a:prstGeom>
          <a:solidFill>
            <a:srgbClr val="6B6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4453128"/>
            <a:ext cx="32918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📋 GlpiEventos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892040"/>
            <a:ext cx="32918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>
                <a:solidFill>
                  <a:srgbClr val="241F1C"/>
                </a:solidFill>
                <a:latin typeface="Calibri"/>
              </a:defRPr>
            </a:pPr>
            <a:r>
              <a:t>  •  id  •  ticket_id  •  tipo  •  descripcion</a:t>
            </a:r>
          </a:p>
          <a:p>
            <a:pPr algn="l">
              <a:spcAft>
                <a:spcPts val="400"/>
              </a:spcAft>
              <a:defRPr sz="900">
                <a:solidFill>
                  <a:srgbClr val="241F1C"/>
                </a:solidFill>
                <a:latin typeface="Calibri"/>
              </a:defRPr>
            </a:pPr>
            <a:r>
              <a:t>  •  payload_bruto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1920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1412"/>
                </a:solidFill>
                <a:latin typeface="Calibri"/>
              </a:defRPr>
            </a:pPr>
            <a:r>
              <a:t>Distribución de Categorías por Grupo</a:t>
            </a:r>
          </a:p>
        </p:txBody>
      </p:sp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6583680" y="2011680"/>
          <a:ext cx="5303520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6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DOGGER HELPDESK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CCCC"/>
                </a:solidFill>
                <a:latin typeface="Calibri"/>
              </a:defRPr>
            </a:pPr>
            <a:r>
              <a:t>Productos Alimenticios Dogger S.A.S.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1412"/>
                </a:solidFill>
                <a:latin typeface="Calibri"/>
              </a:defRPr>
            </a:pPr>
            <a:r>
              <a:t>Indicadores y Tendencias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259"/>
                </a:solidFill>
                <a:latin typeface="Calibri"/>
              </a:defRPr>
            </a:pPr>
            <a:r>
              <a:t>KPIs del sistema y métricas de rendimiento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6259"/>
                </a:solidFill>
                <a:latin typeface="Calibri"/>
              </a:defRPr>
            </a:pPr>
            <a:r>
              <a:t>Dogger HelpDesk — Informe de Avance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6259"/>
                </a:solidFill>
                <a:latin typeface="Calibri"/>
              </a:defRPr>
            </a:pPr>
            <a:r>
              <a:t>7 /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1737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057400"/>
            <a:ext cx="1645920" cy="54864"/>
          </a:xfrm>
          <a:prstGeom prst="rect">
            <a:avLst/>
          </a:prstGeom>
          <a:solidFill>
            <a:srgbClr val="D6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240280"/>
            <a:ext cx="1463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62B1F"/>
                </a:solidFill>
                <a:latin typeface="Calibri"/>
              </a:defRPr>
            </a:pPr>
            <a:r>
              <a:t>4h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8892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259"/>
                </a:solidFill>
                <a:latin typeface="Calibri"/>
              </a:defRPr>
            </a:pPr>
            <a:r>
              <a:t>ANS Urgente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2011680"/>
            <a:ext cx="1737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057400"/>
            <a:ext cx="1645920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2240280"/>
            <a:ext cx="1463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26522"/>
                </a:solidFill>
                <a:latin typeface="Calibri"/>
              </a:defRPr>
            </a:pPr>
            <a:r>
              <a:t>8h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78892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259"/>
                </a:solidFill>
                <a:latin typeface="Calibri"/>
              </a:defRPr>
            </a:pPr>
            <a:r>
              <a:t>ANS Alta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011680"/>
            <a:ext cx="1737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2057400"/>
            <a:ext cx="1645920" cy="54864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2240280"/>
            <a:ext cx="1463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C72C"/>
                </a:solidFill>
                <a:latin typeface="Calibri"/>
              </a:defRPr>
            </a:pPr>
            <a:r>
              <a:t>24h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78892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259"/>
                </a:solidFill>
                <a:latin typeface="Calibri"/>
              </a:defRPr>
            </a:pPr>
            <a:r>
              <a:t>ANS Media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011680"/>
            <a:ext cx="1737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057400"/>
            <a:ext cx="1645920" cy="5486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240280"/>
            <a:ext cx="1463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F7D4F"/>
                </a:solidFill>
                <a:latin typeface="Calibri"/>
              </a:defRPr>
            </a:pPr>
            <a:r>
              <a:t>48h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78892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259"/>
                </a:solidFill>
                <a:latin typeface="Calibri"/>
              </a:defRPr>
            </a:pPr>
            <a:r>
              <a:t>ANS Baja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2011680"/>
            <a:ext cx="1737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80" y="2057400"/>
            <a:ext cx="1645920" cy="54864"/>
          </a:xfrm>
          <a:prstGeom prst="rect">
            <a:avLst/>
          </a:prstGeom>
          <a:solidFill>
            <a:srgbClr val="2D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2240280"/>
            <a:ext cx="1463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D6BA8"/>
                </a:solidFill>
                <a:latin typeface="Calibri"/>
              </a:defRPr>
            </a:pPr>
            <a:r>
              <a:t>5 por ticket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78892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259"/>
                </a:solidFill>
                <a:latin typeface="Calibri"/>
              </a:defRPr>
            </a:pPr>
            <a:r>
              <a:t>Máx. Adjuntos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2011680"/>
            <a:ext cx="1737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04120" y="2057400"/>
            <a:ext cx="1645920" cy="54864"/>
          </a:xfrm>
          <a:prstGeom prst="rect">
            <a:avLst/>
          </a:prstGeom>
          <a:solidFill>
            <a:srgbClr val="24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95560" y="2240280"/>
            <a:ext cx="1463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41F1C"/>
                </a:solidFill>
                <a:latin typeface="Calibri"/>
              </a:defRPr>
            </a:pPr>
            <a:r>
              <a:t>8 MB c/u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5560" y="2788920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259"/>
                </a:solidFill>
                <a:latin typeface="Calibri"/>
              </a:defRPr>
            </a:pPr>
            <a:r>
              <a:t>Tamaño Máx.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640080" y="3474720"/>
          <a:ext cx="50292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6217920" y="3474720"/>
          <a:ext cx="5486400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40080" y="32004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1412"/>
                </a:solidFill>
                <a:latin typeface="Calibri"/>
              </a:defRPr>
            </a:pPr>
            <a:r>
              <a:t>Distribución por Prioridad (%)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2004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1412"/>
                </a:solidFill>
                <a:latin typeface="Calibri"/>
              </a:defRPr>
            </a:pPr>
            <a:r>
              <a:t>Distribución por Estado (%)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6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DOGGER HELPDESK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CCCC"/>
                </a:solidFill>
                <a:latin typeface="Calibri"/>
              </a:defRPr>
            </a:pPr>
            <a:r>
              <a:t>Productos Alimenticios Dogger S.A.S.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1412"/>
                </a:solidFill>
                <a:latin typeface="Calibri"/>
              </a:defRPr>
            </a:pPr>
            <a:r>
              <a:t>Hallazgos Principales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259"/>
                </a:solidFill>
                <a:latin typeface="Calibri"/>
              </a:defRPr>
            </a:pPr>
            <a:r>
              <a:t>Conclusiones clave del análisis del proyecto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6259"/>
                </a:solidFill>
                <a:latin typeface="Calibri"/>
              </a:defRPr>
            </a:pPr>
            <a:r>
              <a:t>Dogger HelpDesk — Informe de Avance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6259"/>
                </a:solidFill>
                <a:latin typeface="Calibri"/>
              </a:defRPr>
            </a:pPr>
            <a:r>
              <a:t>8 / 11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057400"/>
            <a:ext cx="411480" cy="41148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84832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01168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1412"/>
                </a:solidFill>
                <a:latin typeface="Calibri"/>
              </a:defRPr>
            </a:pPr>
            <a:r>
              <a:t>Integración GLPI robusta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33172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259"/>
                </a:solidFill>
                <a:latin typeface="Calibri"/>
              </a:defRPr>
            </a:pPr>
            <a:r>
              <a:t>El cliente GLPI (1,111 líneas) maneja creación, actualización, adjuntos, reasignación y perfiles. Si GLPI falla, el ticket se guarda localmente y se recupera con sync_glpi_pendientes.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71800"/>
            <a:ext cx="411480" cy="41148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99232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92608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1412"/>
                </a:solidFill>
                <a:latin typeface="Calibri"/>
              </a:defRPr>
            </a:pPr>
            <a:r>
              <a:t>Categorías alineadas al negocio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24612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259"/>
                </a:solidFill>
                <a:latin typeface="Calibri"/>
              </a:defRPr>
            </a:pPr>
            <a:r>
              <a:t>Las 36 categorías reflejan exactamente la infraestructura STATU QUO Dogger: SIESA ERP, POS, Fortinet, WatchGuard, servidores, integraciones y administrativo TI.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886200"/>
            <a:ext cx="411480" cy="411480"/>
          </a:xfrm>
          <a:prstGeom prst="ellipse">
            <a:avLst/>
          </a:prstGeom>
          <a:solidFill>
            <a:srgbClr val="2D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13632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84048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1412"/>
                </a:solidFill>
                <a:latin typeface="Calibri"/>
              </a:defRPr>
            </a:pPr>
            <a:r>
              <a:t>Motor de sugerencia inteligente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16052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259"/>
                </a:solidFill>
                <a:latin typeface="Calibri"/>
              </a:defRPr>
            </a:pPr>
            <a:r>
              <a:t>227 líneas de keywords mapean 36 categorías. Tanto el servidor como el cliente sugieren la categoría correcta mientras el usuario escribe el ticket.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800600"/>
            <a:ext cx="411480" cy="41148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828032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75488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1412"/>
                </a:solidFill>
                <a:latin typeface="Calibri"/>
              </a:defRPr>
            </a:pPr>
            <a:r>
              <a:t>Infraestructura de seguridad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07492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259"/>
                </a:solidFill>
                <a:latin typeface="Calibri"/>
              </a:defRPr>
            </a:pPr>
            <a:r>
              <a:t>Secrets en .env, validación de webhook con X-Dogger-Secret, CORS configurado, HTTPS en producción, permisos por decoradores (@staff_required, @admin_required).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5715000"/>
            <a:ext cx="411480" cy="411480"/>
          </a:xfrm>
          <a:prstGeom prst="ellipse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742432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66928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1412"/>
                </a:solidFill>
                <a:latin typeface="Calibri"/>
              </a:defRPr>
            </a:pPr>
            <a:r>
              <a:t>GLPI desactivado actualmente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98932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259"/>
                </a:solidFill>
                <a:latin typeface="Calibri"/>
              </a:defRPr>
            </a:pPr>
            <a:r>
              <a:t>GLPI_ENABLED=False en .env. La sincronización con GLPI está lista pero requiere configuración de tokens en LAN. No hay instancia GLPI desplegada en Dogger.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6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DOGGER HELPDESK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CCCC"/>
                </a:solidFill>
                <a:latin typeface="Calibri"/>
              </a:defRPr>
            </a:pPr>
            <a:r>
              <a:t>Productos Alimenticios Dogger S.A.S.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1412"/>
                </a:solidFill>
                <a:latin typeface="Calibri"/>
              </a:defRPr>
            </a:pPr>
            <a:r>
              <a:t>Falencias, Riesgos y Aspectos de Atención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259"/>
                </a:solidFill>
                <a:latin typeface="Calibri"/>
              </a:defRPr>
            </a:pPr>
            <a:r>
              <a:t>Puntos que requieren acción inmediata o seguimiento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6259"/>
                </a:solidFill>
                <a:latin typeface="Calibri"/>
              </a:defRPr>
            </a:pPr>
            <a:r>
              <a:t>Dogger HelpDesk — Informe de Avance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6259"/>
                </a:solidFill>
                <a:latin typeface="Calibri"/>
              </a:defRPr>
            </a:pPr>
            <a:r>
              <a:t>9 /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11680"/>
            <a:ext cx="10972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148840"/>
            <a:ext cx="1097280" cy="320040"/>
          </a:xfrm>
          <a:prstGeom prst="roundRect">
            <a:avLst/>
          </a:prstGeom>
          <a:solidFill>
            <a:srgbClr val="D6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57984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CRÍTICO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10312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1412"/>
                </a:solidFill>
                <a:latin typeface="Calibri"/>
              </a:defRPr>
            </a:pPr>
            <a:r>
              <a:t>GLPI no desplegado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4231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259"/>
                </a:solidFill>
                <a:latin typeface="Calibri"/>
              </a:defRPr>
            </a:pPr>
            <a:r>
              <a:t>La integración está codificada pero GLPI no está instalado en la LAN Dogger. Sin GLPI, no hay gestión ITIL completa ni inventario de activos.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26080"/>
            <a:ext cx="10972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063240"/>
            <a:ext cx="1097280" cy="320040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072384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ALTO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01752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1412"/>
                </a:solidFill>
                <a:latin typeface="Calibri"/>
              </a:defRPr>
            </a:pPr>
            <a:r>
              <a:t>Secrets en texto plano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3375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259"/>
                </a:solidFill>
                <a:latin typeface="Calibri"/>
              </a:defRPr>
            </a:pPr>
            <a:r>
              <a:t>El archivo .env contiene credenciales de SQL Server (Sa123456). Requiere rotación de credenciales y política de vault para producción.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40480"/>
            <a:ext cx="10972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3977640"/>
            <a:ext cx="1097280" cy="32004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986784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93192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1412"/>
                </a:solidFill>
                <a:latin typeface="Calibri"/>
              </a:defRPr>
            </a:pPr>
            <a:r>
              <a:t>Sin notificaciones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2519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259"/>
                </a:solidFill>
                <a:latin typeface="Calibri"/>
              </a:defRPr>
            </a:pPr>
            <a:r>
              <a:t>No hay envío de correos al cambiar estado de ticket. Los usuarios deben consultar manualmente el portal. Próxima prioridad.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754880"/>
            <a:ext cx="10972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4892040"/>
            <a:ext cx="1097280" cy="320040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901184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ALTO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84632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1412"/>
                </a:solidFill>
                <a:latin typeface="Calibri"/>
              </a:defRPr>
            </a:pPr>
            <a:r>
              <a:t>Sin backup automatizado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1663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259"/>
                </a:solidFill>
                <a:latin typeface="Calibri"/>
              </a:defRPr>
            </a:pPr>
            <a:r>
              <a:t>No hay script de backup para la BD Tickets ni para media/adjuntos. Riesgo de pérdida de datos en caso de fallo del servidor.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669280"/>
            <a:ext cx="10972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7240" y="5806440"/>
            <a:ext cx="1097280" cy="32004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815584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MEDIO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76072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1412"/>
                </a:solidFill>
                <a:latin typeface="Calibri"/>
              </a:defRPr>
            </a:pPr>
            <a:r>
              <a:t>Debug=True en .env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60807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259"/>
                </a:solidFill>
                <a:latin typeface="Calibri"/>
              </a:defRPr>
            </a:pPr>
            <a:r>
              <a:t>DJANGO_DEBUG=True en el .env activo. Debe cambiarse a False antes de producción para evitar exposición de errores.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6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DOGGER HELPDESK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CCCC"/>
                </a:solidFill>
                <a:latin typeface="Calibri"/>
              </a:defRPr>
            </a:pPr>
            <a:r>
              <a:t>Productos Alimenticios Dogger S.A.S.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1412"/>
                </a:solidFill>
                <a:latin typeface="Calibri"/>
              </a:defRPr>
            </a:pPr>
            <a:r>
              <a:t>Oportunidades, Proyectos y Próximos Pasos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259"/>
                </a:solidFill>
                <a:latin typeface="Calibri"/>
              </a:defRPr>
            </a:pPr>
            <a:r>
              <a:t>Hoja de ruta para completar la implementación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6259"/>
                </a:solidFill>
                <a:latin typeface="Calibri"/>
              </a:defRPr>
            </a:pPr>
            <a:r>
              <a:t>Dogger HelpDesk — Informe de Avance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6259"/>
                </a:solidFill>
                <a:latin typeface="Calibri"/>
              </a:defRPr>
            </a:pPr>
            <a:r>
              <a:t>10 /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3566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057400"/>
            <a:ext cx="3474720" cy="548640"/>
          </a:xfrm>
          <a:prstGeom prst="rect">
            <a:avLst/>
          </a:prstGeom>
          <a:solidFill>
            <a:srgbClr val="D6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84831"/>
            <a:ext cx="32918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CORTO PLAZO</a:t>
            </a:r>
            <a:br/>
            <a:r>
              <a:t>(1-2 meses)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3200400" cy="3566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1. Activar GLPI en LAN Dogger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Instalar GLPI en servidor interno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Configurar API tokens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Habilitar GLPI_ENABLED=True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2. Notificaciones por correo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Configurar SMTP Dogger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Alertas al cambiar estado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Confirmación al solicitante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3. Seguridad en producción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Rotar credenciales SQL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DJANGO_DEBUG=False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Configurar HTTPS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011680"/>
            <a:ext cx="3566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057400"/>
            <a:ext cx="3474720" cy="54864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084831"/>
            <a:ext cx="32918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MEDIANO PLAZO</a:t>
            </a:r>
            <a:br/>
            <a:r>
              <a:t>(3-4 meses)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697480"/>
            <a:ext cx="3200400" cy="3566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4. SLA avanzado con alertas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Dashboard de tickets vencidos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Alertas automáticas 24h antes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Métricas de cumplimiento ANS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5. Inventario de activos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PCs (PC-P1…) en GLPI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Enlazar tickets a activos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Historial por equipo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6. Consulta por correo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Buscar ticket por email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No solo por código HD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011680"/>
            <a:ext cx="3566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2057400"/>
            <a:ext cx="3474720" cy="548640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084831"/>
            <a:ext cx="32918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LARGO PLAZO</a:t>
            </a:r>
            <a:br/>
            <a:r>
              <a:t>(5-6 meses)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97480"/>
            <a:ext cx="3200400" cy="3566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7. App móvil (PWA)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Progressive Web App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notificaciones push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offline mode para lectura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8. Plugin Formcreator GLPI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Forms ITIL nativos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Si se retira portal Django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9. Dashboard métricas live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Gráficas en tiempo real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KPIs ejecutivos</a:t>
            </a:r>
          </a:p>
          <a:p>
            <a:pPr algn="l">
              <a:spcAft>
                <a:spcPts val="400"/>
              </a:spcAft>
              <a:defRPr sz="1000">
                <a:solidFill>
                  <a:srgbClr val="241F1C"/>
                </a:solidFill>
                <a:latin typeface="Calibri"/>
              </a:defRPr>
            </a:pPr>
            <a:r>
              <a:t>   → Auditoría y logs avanzados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6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DOGGER HELPDESK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CCCC"/>
                </a:solidFill>
                <a:latin typeface="Calibri"/>
              </a:defRPr>
            </a:pPr>
            <a:r>
              <a:t>Productos Alimenticios Dogger S.A.S.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1412"/>
                </a:solidFill>
                <a:latin typeface="Calibri"/>
              </a:defRPr>
            </a:pPr>
            <a:r>
              <a:t>Conclusiones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259"/>
                </a:solidFill>
                <a:latin typeface="Calibri"/>
              </a:defRPr>
            </a:pPr>
            <a:r>
              <a:t>Síntesis y recomendaciones finales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6259"/>
                </a:solidFill>
                <a:latin typeface="Calibri"/>
              </a:defRPr>
            </a:pPr>
            <a:r>
              <a:t>Dogger HelpDesk — Informe de Avance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6259"/>
                </a:solidFill>
                <a:latin typeface="Calibri"/>
              </a:defRPr>
            </a:pPr>
            <a:r>
              <a:t>11 / 11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8483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01168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1412"/>
                </a:solidFill>
                <a:latin typeface="Calibri"/>
              </a:defRPr>
            </a:pPr>
            <a:r>
              <a:t>Proyecto sólido y funcional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37744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259"/>
                </a:solidFill>
                <a:latin typeface="Calibri"/>
              </a:defRPr>
            </a:pPr>
            <a:r>
              <a:t>El sistema Dogger HelpDesk está operativo con todas las funcionalidades core de la Fase Normal. La arquitectura Django + SQL Server 2022 es robusta, escalable y está alineada a la infraestructura de Productos Alimenticios Dogger S.A.S.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2D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2783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15468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1412"/>
                </a:solidFill>
                <a:latin typeface="Calibri"/>
              </a:defRPr>
            </a:pPr>
            <a:r>
              <a:t>Integración GLPI lista para activar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52044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259"/>
                </a:solidFill>
                <a:latin typeface="Calibri"/>
              </a:defRPr>
            </a:pPr>
            <a:r>
              <a:t>El código de sincronización con GLPI está completo y probado. Solo requiere la instalación de GLPI en la LAN y la configuración de tokens. La migración será transparente para los usuarios.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37083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9768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1412"/>
                </a:solidFill>
                <a:latin typeface="Calibri"/>
              </a:defRPr>
            </a:pPr>
            <a:r>
              <a:t>Seguridad como prioridad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6344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259"/>
                </a:solidFill>
                <a:latin typeface="Calibri"/>
              </a:defRPr>
            </a:pPr>
            <a:r>
              <a:t>Antes de ir a producción, es fundamental rotar credenciales, activar HTTPS, desactivar debug y configurar backups automatizados. Estas son acciones de bajo esfuerzo y alto impacto.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486400"/>
            <a:ext cx="457200" cy="457200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51383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44068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1412"/>
                </a:solidFill>
                <a:latin typeface="Calibri"/>
              </a:defRPr>
            </a:pPr>
            <a:r>
              <a:t>Hoja de ruta clara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80644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259"/>
                </a:solidFill>
                <a:latin typeface="Calibri"/>
              </a:defRPr>
            </a:pPr>
            <a:r>
              <a:t>Las 9 iniciativas de mejora están priorizadas por impacto y esfuerzo. Las de corto plazo (GLPI, notificaciones, seguridad) tienen el mayor retorno de inversión.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5760720"/>
            <a:ext cx="6675120" cy="640080"/>
          </a:xfrm>
          <a:prstGeom prst="roundRect">
            <a:avLst/>
          </a:prstGeom>
          <a:solidFill>
            <a:srgbClr val="D6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5806440"/>
            <a:ext cx="6309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"De la idea a la operación: Dogger HelpDesk ya está funcionando."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